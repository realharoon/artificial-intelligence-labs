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76" autoAdjust="0"/>
    <p:restoredTop sz="94660"/>
  </p:normalViewPr>
  <p:slideViewPr>
    <p:cSldViewPr snapToGrid="0">
      <p:cViewPr varScale="1">
        <p:scale>
          <a:sx n="62" d="100"/>
          <a:sy n="62" d="100"/>
        </p:scale>
        <p:origin x="9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1C4F6-EB49-29C9-213C-F50E873080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85796D-6CD3-1C9E-6787-E74B2A644F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6C36E7-3492-8DA0-4708-7546EAB3FF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AD377-3507-45AC-A9F2-A884044EA6B8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C46A0B-66C0-37AC-998F-92FFA1108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3EE79-723A-A52B-7DB2-1C763DC10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1754A-F4FF-4760-B9D2-66444D50F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82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82D9-2131-76DB-F462-15DDEBDF9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9E5642-72F3-E13C-E9C9-6BA2765F15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CEF87C-C487-1C00-0B9A-3624A1B64D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AD377-3507-45AC-A9F2-A884044EA6B8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50ECA9-3B6E-7F0A-EFC0-A6A85505E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EAFA3B-8E41-8ECB-D056-556FD5C35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1754A-F4FF-4760-B9D2-66444D50F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513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54F6E-8979-C55E-EF96-C8DDFE1DD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F47634-9C7B-60CC-28C1-EE22EBBA17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5030B9-B331-A785-ADBA-F365366A1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AD377-3507-45AC-A9F2-A884044EA6B8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A16C9-83D9-6411-885E-6FA395C6A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6670FF-98FE-D07D-87D8-6C1EC0690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1754A-F4FF-4760-B9D2-66444D50F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681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0BFF2-11C8-5836-D951-E4D86AB0B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2777B-F683-D046-2C44-3B1A0627F2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2903F0-1F70-0FAA-2C99-30B8CB08D9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708BE8-3EBE-9D03-697C-2B1D8711D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AD377-3507-45AC-A9F2-A884044EA6B8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606F3-90E3-618D-21A7-54650310A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5E6795-6855-74A7-8040-5534B6362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1754A-F4FF-4760-B9D2-66444D50F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7356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B22A7-CA78-DEF3-0C3E-7D588782D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7FCFF4-9FB5-DF57-8FFE-FF53C1B337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29B687-D203-08EF-4CB8-8BBF488EB0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82CA31-4EC2-5D07-7FF6-280DFDC075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3B0495-B308-1DB2-06D6-56E0E572A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C4000D-5E57-11E6-F288-444F75E29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AD377-3507-45AC-A9F2-A884044EA6B8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FE83C6-C6F8-ED03-93BB-6A7461096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709654-5AA1-1DC7-38BC-7FEAC6C9B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1754A-F4FF-4760-B9D2-66444D50F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687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AC42C-55DE-E513-4929-3DD1FDA48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D621D3-2D47-CFBB-7188-DB2476F0C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AD377-3507-45AC-A9F2-A884044EA6B8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E3C4B8-DCB4-7848-6346-A945E9CBC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33BBC5-7FF3-E881-F0D4-AC22315A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1754A-F4FF-4760-B9D2-66444D50F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1564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F1B98E-E172-9A70-76C2-1FE858C74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AD377-3507-45AC-A9F2-A884044EA6B8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FC4FB0-DD8C-4A96-CD2E-C7BA6214C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AC241A-BB8B-64FD-69B3-A3F6D13EF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1754A-F4FF-4760-B9D2-66444D50F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644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AF7A2-2BCE-D2C4-3E4C-CAE893468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3A0BDB-C9F7-C893-30A8-5B5ECAB294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BAB129-8482-BA46-35BC-05E0FE6066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4BB143-6C41-1A7F-E8D9-C3083DFB3B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AD377-3507-45AC-A9F2-A884044EA6B8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16B557-D428-D8B7-6BD6-C5BD41577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49D238-ED0B-AC52-A8CA-E36920A4F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1754A-F4FF-4760-B9D2-66444D50F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152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93774-39B4-BA62-B4F1-1866EFE27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0EE0C5-32DB-5C27-72FE-C445C321FB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BF2DDD-8403-3FE7-FD7F-D4896B00FF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2EBD7-68E5-7704-CE3B-A0BA7BB49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AD377-3507-45AC-A9F2-A884044EA6B8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86D861-244B-37CD-ACC6-567E3BAEC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8DDC8F-1538-CB00-C02A-257B9C15C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1754A-F4FF-4760-B9D2-66444D50F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268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627C6-5D17-D892-5CA5-C9694FC24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0930A4-9765-5228-B066-E54C53C622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18F681-E417-5155-45A9-F70792BBE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AD377-3507-45AC-A9F2-A884044EA6B8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6E2CCE-5B73-2F10-ACBA-86DF7220A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1E6835-E325-E32E-B5CD-47F8000BB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1754A-F4FF-4760-B9D2-66444D50F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6008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511446-2227-9690-8966-60198D6EE4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BD3381-5C20-2777-E684-2812D5EC6C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A067FD-4A11-1449-1910-32C168474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AD377-3507-45AC-A9F2-A884044EA6B8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5DBCA5-887C-FF13-8C94-9286A718F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1C8DC5-FE5C-E0D7-88A1-8A72C4DF4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1754A-F4FF-4760-B9D2-66444D50F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9221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453B1B-6744-FCED-FB79-3406440BB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B3513D-C8AE-9131-FF95-1DC1C56E96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9FE4BF-6F9C-4DBD-A027-E56A19D7BB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2AD377-3507-45AC-A9F2-A884044EA6B8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7A29A-2357-A4FC-BCEE-86DBA1A0FB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5FFA3B-9053-4344-20FC-6FCA37BA7D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B1754A-F4FF-4760-B9D2-66444D50F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288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40D11-F283-EA49-FE1B-753E2AF9B3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House Price Predictor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06635B-8533-E00B-EFFF-8CDB5E702C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AI Lab Task No 1</a:t>
            </a:r>
          </a:p>
          <a:p>
            <a:r>
              <a:rPr lang="en-US" dirty="0"/>
              <a:t>M Haroon Abbas  </a:t>
            </a:r>
          </a:p>
          <a:p>
            <a:r>
              <a:rPr lang="en-US" dirty="0"/>
              <a:t>2K23/ BLCS/ 38</a:t>
            </a:r>
          </a:p>
        </p:txBody>
      </p:sp>
    </p:spTree>
    <p:extLst>
      <p:ext uri="{BB962C8B-B14F-4D97-AF65-F5344CB8AC3E}">
        <p14:creationId xmlns:p14="http://schemas.microsoft.com/office/powerpoint/2010/main" val="25161379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D871BC-65D0-4EE2-9403-5E3DCB7441DF}"/>
              </a:ext>
            </a:extLst>
          </p:cNvPr>
          <p:cNvSpPr txBox="1"/>
          <p:nvPr/>
        </p:nvSpPr>
        <p:spPr>
          <a:xfrm>
            <a:off x="4828674" y="136175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Arial Black" panose="020B0A04020102020204" pitchFamily="34" charset="0"/>
              </a:rPr>
              <a:t>Objectives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D0BC2B3-0C27-CAAD-404A-B0B26A75F5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372" y="1374591"/>
            <a:ext cx="11391256" cy="41088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F0502020204030204" pitchFamily="34" charset="0"/>
              </a:rPr>
              <a:t>The Goal: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F0502020204030204" pitchFamily="34" charset="0"/>
              </a:rPr>
              <a:t> To Predict House Prices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F0502020204030204" pitchFamily="34" charset="0"/>
              </a:rPr>
              <a:t>Predictive Task: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F0502020204030204" pitchFamily="34" charset="0"/>
              </a:rPr>
              <a:t> Estimate the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F0502020204030204" pitchFamily="34" charset="0"/>
              </a:rPr>
              <a:t>SalePrice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F0502020204030204" pitchFamily="34" charset="0"/>
              </a:rPr>
              <a:t> of residential properties.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F0502020204030204" pitchFamily="34" charset="0"/>
              </a:rPr>
              <a:t> Key Predictors: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F050202020403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400" dirty="0">
                <a:latin typeface="Arial Nova" panose="020F050202020403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F0502020204030204" pitchFamily="34" charset="0"/>
              </a:rPr>
              <a:t>Overall Qual: Material and finish quality.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F0502020204030204" pitchFamily="34" charset="0"/>
              </a:rPr>
              <a:t> Gr Liv Area: Above-ground living area square feet.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F0502020204030204" pitchFamily="34" charset="0"/>
              </a:rPr>
              <a:t> Garage Cars: Size of garage in car capacity.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F0502020204030204" pitchFamily="34" charset="0"/>
              </a:rPr>
              <a:t> Total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F0502020204030204" pitchFamily="34" charset="0"/>
              </a:rPr>
              <a:t>Bsmt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F0502020204030204" pitchFamily="34" charset="0"/>
              </a:rPr>
              <a:t> SF: Total square feet of basement area.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400" dirty="0">
                <a:latin typeface="Arial Nova" panose="020F0502020204030204" pitchFamily="34" charset="0"/>
              </a:rPr>
              <a:t> Year Built : Build Year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F0502020204030204" pitchFamily="34" charset="0"/>
              </a:rPr>
              <a:t> Pipeline Scope: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F0502020204030204" pitchFamily="34" charset="0"/>
              </a:rPr>
              <a:t> Data Cleaning -&gt; EDA </a:t>
            </a:r>
            <a:r>
              <a:rPr lang="en-US" altLang="en-US" sz="2400" dirty="0">
                <a:latin typeface="Arial Nova" panose="020F0502020204030204" pitchFamily="34" charset="0"/>
              </a:rPr>
              <a:t>-&gt;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F0502020204030204" pitchFamily="34" charset="0"/>
              </a:rPr>
              <a:t>Feature Engineering -&gt; Model Training -&gt;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F0502020204030204" pitchFamily="34" charset="0"/>
              </a:rPr>
              <a:t>FastAPI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F0502020204030204" pitchFamily="34" charset="0"/>
              </a:rPr>
              <a:t> Deployment.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2458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C66D15-B283-4EB0-AC79-B557E9AF211D}"/>
              </a:ext>
            </a:extLst>
          </p:cNvPr>
          <p:cNvSpPr txBox="1"/>
          <p:nvPr/>
        </p:nvSpPr>
        <p:spPr>
          <a:xfrm>
            <a:off x="4908816" y="139484"/>
            <a:ext cx="23743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Arial Black" panose="020B0A04020102020204" pitchFamily="34" charset="0"/>
              </a:rPr>
              <a:t>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B69580-173C-5B0E-38DF-1DFEC0776EA6}"/>
              </a:ext>
            </a:extLst>
          </p:cNvPr>
          <p:cNvSpPr txBox="1"/>
          <p:nvPr/>
        </p:nvSpPr>
        <p:spPr>
          <a:xfrm>
            <a:off x="340963" y="724259"/>
            <a:ext cx="368953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rial Nova" panose="020B0504020202020204" pitchFamily="34" charset="0"/>
              </a:rPr>
              <a:t>Linear Regression.</a:t>
            </a:r>
          </a:p>
          <a:p>
            <a:endParaRPr lang="en-US" sz="2400" b="1" dirty="0">
              <a:latin typeface="Arial Nova" panose="020B0504020202020204" pitchFamily="34" charset="0"/>
            </a:endParaRPr>
          </a:p>
          <a:p>
            <a:r>
              <a:rPr lang="en-US" sz="2400" b="1" dirty="0">
                <a:latin typeface="Arial Nova" panose="020B0504020202020204" pitchFamily="34" charset="0"/>
              </a:rPr>
              <a:t>Why Linear Regression?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4CC45C6-4721-3A8D-D873-52CC845F1A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0963" y="2301923"/>
            <a:ext cx="5392276" cy="26314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Nature of the Target: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Price is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continuous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numeric value, requiring a Regression approach rather than Classification.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Efficiency: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It serves as the perfect "Baseline Model"—low computational cost with high transparency.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51" name="Picture 3" descr="Linear Regression Explained with Example &amp; Application">
            <a:extLst>
              <a:ext uri="{FF2B5EF4-FFF2-40B4-BE49-F238E27FC236}">
                <a16:creationId xmlns:a16="http://schemas.microsoft.com/office/drawing/2014/main" id="{822CEEEA-A5FF-1E79-CEBD-7E4D5C758E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462841"/>
            <a:ext cx="5527729" cy="3932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97370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Box 31">
            <a:extLst>
              <a:ext uri="{FF2B5EF4-FFF2-40B4-BE49-F238E27FC236}">
                <a16:creationId xmlns:a16="http://schemas.microsoft.com/office/drawing/2014/main" id="{3B073E31-FBB2-331E-65AA-0A75FB6B8180}"/>
              </a:ext>
            </a:extLst>
          </p:cNvPr>
          <p:cNvSpPr txBox="1"/>
          <p:nvPr/>
        </p:nvSpPr>
        <p:spPr>
          <a:xfrm>
            <a:off x="2374469" y="195042"/>
            <a:ext cx="80093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Arial Black" panose="020B0A04020102020204" pitchFamily="34" charset="0"/>
              </a:rPr>
              <a:t>Understanding Evaluation Metrics</a:t>
            </a:r>
          </a:p>
        </p:txBody>
      </p:sp>
      <p:sp>
        <p:nvSpPr>
          <p:cNvPr id="36" name="Rectangle 32">
            <a:extLst>
              <a:ext uri="{FF2B5EF4-FFF2-40B4-BE49-F238E27FC236}">
                <a16:creationId xmlns:a16="http://schemas.microsoft.com/office/drawing/2014/main" id="{459E07E2-6E8D-5F9B-5B45-2F2E411FF4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6386" y="1177055"/>
            <a:ext cx="11639227" cy="52168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To know if our model is "good," we use two primary industry-standard metrics: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R^2 Score (Coefficient of Determination):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What it is: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Represents the proportion of variance for the price that's explained by our features.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Scale: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0 to 1.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Example: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An R^2 of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0.83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means our model explains 83% of the price variations.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RMSE (Root Mean Squared Error):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What it is: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The square root of the average squared error.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Unit: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Same as the target (Dollars).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Why it matters: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It tells us the average magnitude of our error. If RMSE is 30,000, our predictions are, on average, off by $30k.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pic>
        <p:nvPicPr>
          <p:cNvPr id="3106" name="Picture 34">
            <a:extLst>
              <a:ext uri="{FF2B5EF4-FFF2-40B4-BE49-F238E27FC236}">
                <a16:creationId xmlns:a16="http://schemas.microsoft.com/office/drawing/2014/main" id="{A1A8B6F8-D283-920F-E5E8-5F308BB392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1238" y="3424238"/>
            <a:ext cx="9525" cy="9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5344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291</Words>
  <Application>Microsoft Office PowerPoint</Application>
  <PresentationFormat>Widescreen</PresentationFormat>
  <Paragraphs>32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Aptos</vt:lpstr>
      <vt:lpstr>Aptos Display</vt:lpstr>
      <vt:lpstr>Arial</vt:lpstr>
      <vt:lpstr>Arial Black</vt:lpstr>
      <vt:lpstr>Arial Nova</vt:lpstr>
      <vt:lpstr>Google Sans Text</vt:lpstr>
      <vt:lpstr>Office Theme</vt:lpstr>
      <vt:lpstr>House Price Predictor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Haroon Khan</dc:creator>
  <cp:lastModifiedBy>Haroon Khan</cp:lastModifiedBy>
  <cp:revision>2</cp:revision>
  <dcterms:created xsi:type="dcterms:W3CDTF">2026-02-03T03:23:43Z</dcterms:created>
  <dcterms:modified xsi:type="dcterms:W3CDTF">2026-02-03T04:41:12Z</dcterms:modified>
</cp:coreProperties>
</file>