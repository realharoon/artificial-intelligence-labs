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6" autoAdjust="0"/>
    <p:restoredTop sz="94660"/>
  </p:normalViewPr>
  <p:slideViewPr>
    <p:cSldViewPr snapToGrid="0">
      <p:cViewPr varScale="1">
        <p:scale>
          <a:sx n="62" d="100"/>
          <a:sy n="62" d="100"/>
        </p:scale>
        <p:origin x="9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E38A4-3AAF-5609-E742-136430E6D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FC3261-0C9F-7A88-202C-4C112DCB89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01238-71EA-DF60-165A-DF584E35A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AD377-3507-45AC-A9F2-A884044EA6B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0787A-3FCC-ECF5-B1AC-8A7DDFB57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51B01-6CE5-D940-C110-B5D90CEF5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754A-F4FF-4760-B9D2-66444D50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90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B5126-4A9E-3FC6-ABDE-D04B7F930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A3737-F9F6-9791-9D9F-DD567176F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08A33-D14F-AF18-21EC-E7C273E5F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AD377-3507-45AC-A9F2-A884044EA6B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AAC62-47B9-12C0-94C7-CD7B4F42D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CC54D-B6E4-2B36-FDE8-65A0E11AD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754A-F4FF-4760-B9D2-66444D50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73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55822-B31A-4942-7588-68DDB1F5F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BBA6C-FA07-9AC7-941D-FF3354632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BA18C-3739-1A10-F0BE-96A223536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AD377-3507-45AC-A9F2-A884044EA6B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A4C99-49B5-C6E4-7500-8C1F4628A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26494-D792-0AE3-EB5D-B29727E24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754A-F4FF-4760-B9D2-66444D50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632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4BF97-E5AD-C8C0-181E-FAD1F3EBD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E70D0-04BF-C98E-5227-569016CEDB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FCF83-BCF4-A7E2-CF5B-B76769A241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6E872F-DDA8-2602-51D9-98A698639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AD377-3507-45AC-A9F2-A884044EA6B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EEA56-91B0-9605-7D17-F0B85319B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167CA-22B0-E4A5-8FD6-D1EAE9E64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754A-F4FF-4760-B9D2-66444D50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200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2A6CB-6412-07EC-A78D-09B7DBE01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03CC3-87B2-A545-6164-FE0871D9A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B241D7-4D23-0987-7C33-432F926F9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110EF0-0B5F-93CA-7E9E-B6030A1707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4B075C-ED06-80A6-3DD4-4BC87C73E2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AC9168-A266-1968-DEF4-84DB6695D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AD377-3507-45AC-A9F2-A884044EA6B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3EC190-3057-7F8D-2B6A-9DE497718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AD54FA-0B18-E92B-4365-7AA57E714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754A-F4FF-4760-B9D2-66444D50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088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3102D-92DE-C6C7-F047-1F3537212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3E1DF-A9D0-78EE-7911-B7E38F1A0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AD377-3507-45AC-A9F2-A884044EA6B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B2DB80-37A4-62F3-4640-2A1661F13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95265-C404-7060-0774-DBFFDC4A1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754A-F4FF-4760-B9D2-66444D50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43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3E6F33-B95F-9E3C-E7F9-5CF8656B4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AD377-3507-45AC-A9F2-A884044EA6B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EEFFCA-438E-8E54-0278-A6A88CF8C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A00D4-3ED5-D7B0-CA7D-67FB71E2E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754A-F4FF-4760-B9D2-66444D50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83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36DC3-528F-86E2-7D2D-207564F3C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940F6-387D-1D07-ACAE-A7C81DF2A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AC274-0BB1-D023-ED34-D8C0F81B5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9A271-3A60-937C-2673-78DFDA1FF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AD377-3507-45AC-A9F2-A884044EA6B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6C95BD-F8A9-8E9A-9AF1-A8F5511A8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F3AC9-A753-65EE-18EB-93D6D5F0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754A-F4FF-4760-B9D2-66444D50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966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F68D-0231-0CF4-958D-0D31F85C8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350C61-AB47-0DCC-F3D6-2CAD1E0BAE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143FE5-4876-5AA3-31CE-7510568AC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110DD-7DC5-1E0C-190F-458D99FDF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AD377-3507-45AC-A9F2-A884044EA6B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47B16-0515-1D2C-DB46-C8B14C37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5B6C8-991E-A160-CD59-D809EC56B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754A-F4FF-4760-B9D2-66444D50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514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4F322-DEC4-F1E7-7B2E-7A44DA5BD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20C731-F0F7-2E4E-0FBE-133DC76F3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C86A8-3F44-416D-3E1C-EBD923C36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AD377-3507-45AC-A9F2-A884044EA6B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C6FF5-2451-25BD-098D-09D1AABAE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7D20B-FE7B-1347-55B0-F6FAC89D8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754A-F4FF-4760-B9D2-66444D50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034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897E5C-E26D-3F03-1F25-55D4479C2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62A060-439A-4845-C13E-A21620B6D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05F69-62F0-DC67-3BAD-28D8024CF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AD377-3507-45AC-A9F2-A884044EA6B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44618-D176-1A45-31EF-15ECBC7A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498A4-8BD7-1EC6-A5BA-403D12C47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1754A-F4FF-4760-B9D2-66444D50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99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171D0-F518-8CF9-DB8D-B918AB6A3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025BF-575E-B285-A0EC-8120959A8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856C3-2F9A-23DD-426B-7C37994A31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2AD377-3507-45AC-A9F2-A884044EA6B8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20220-19AC-8FAB-ED2A-0C6082A2C8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E3E90-42A1-2766-FB6F-308F87957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B1754A-F4FF-4760-B9D2-66444D50F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96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40D11-F283-EA49-FE1B-753E2AF9B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7348"/>
            <a:ext cx="9144000" cy="991352"/>
          </a:xfrm>
        </p:spPr>
        <p:txBody>
          <a:bodyPr/>
          <a:lstStyle/>
          <a:p>
            <a:r>
              <a:rPr lang="en-US" dirty="0"/>
              <a:t>House Price Predictor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06635B-8533-E00B-EFFF-8CDB5E702C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AI Lab Task No 1</a:t>
            </a:r>
          </a:p>
          <a:p>
            <a:r>
              <a:rPr lang="en-US" dirty="0"/>
              <a:t>From: M Haroon Abbas  </a:t>
            </a:r>
          </a:p>
          <a:p>
            <a:r>
              <a:rPr lang="en-US" dirty="0"/>
              <a:t>2K23/ BLCS/ 38</a:t>
            </a:r>
          </a:p>
          <a:p>
            <a:r>
              <a:rPr lang="en-US" dirty="0"/>
              <a:t>Course Instructor: Dr Fozia Talpur</a:t>
            </a:r>
          </a:p>
        </p:txBody>
      </p:sp>
    </p:spTree>
    <p:extLst>
      <p:ext uri="{BB962C8B-B14F-4D97-AF65-F5344CB8AC3E}">
        <p14:creationId xmlns:p14="http://schemas.microsoft.com/office/powerpoint/2010/main" val="2516137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D871BC-65D0-4EE2-9403-5E3DCB7441DF}"/>
              </a:ext>
            </a:extLst>
          </p:cNvPr>
          <p:cNvSpPr txBox="1"/>
          <p:nvPr/>
        </p:nvSpPr>
        <p:spPr>
          <a:xfrm>
            <a:off x="4828674" y="37680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Objectives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D0BC2B3-0C27-CAAD-404A-B0B26A75F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372" y="1374591"/>
            <a:ext cx="11391256" cy="410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The Goal: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 To Predict House Prices according to given features as input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Predictive Task: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 Estimate the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SalePrice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 of residential properties.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 Key Predictors: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Arial Nova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Overall Qual: Material and finish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 Gr Liv Area: Above-ground living area square feet.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 Garage Cars: Size of garage in car capacity.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 Total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Bsmt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 SF: Total square feet of basement area.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Arial Nova" panose="020F0502020204030204" pitchFamily="34" charset="0"/>
              </a:rPr>
              <a:t> Year Built : Build Year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 Pipeline Scope: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 Data Cleaning -&gt; EDA </a:t>
            </a:r>
            <a:r>
              <a:rPr lang="en-US" altLang="en-US" sz="2400" dirty="0">
                <a:latin typeface="Arial Nova" panose="020F0502020204030204" pitchFamily="34" charset="0"/>
              </a:rPr>
              <a:t>-&gt;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Feature Engineering -&gt; Model Training -&gt;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FastAPI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ova" panose="020F0502020204030204" pitchFamily="34" charset="0"/>
              </a:rPr>
              <a:t>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5245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C66D15-B283-4EB0-AC79-B557E9AF211D}"/>
              </a:ext>
            </a:extLst>
          </p:cNvPr>
          <p:cNvSpPr txBox="1"/>
          <p:nvPr/>
        </p:nvSpPr>
        <p:spPr>
          <a:xfrm>
            <a:off x="4908816" y="258593"/>
            <a:ext cx="23743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Algorithm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B69580-173C-5B0E-38DF-1DFEC0776EA6}"/>
              </a:ext>
            </a:extLst>
          </p:cNvPr>
          <p:cNvSpPr txBox="1"/>
          <p:nvPr/>
        </p:nvSpPr>
        <p:spPr>
          <a:xfrm>
            <a:off x="340963" y="724259"/>
            <a:ext cx="36895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 Nova" panose="020B0504020202020204" pitchFamily="34" charset="0"/>
              </a:rPr>
              <a:t>Linear Regression.</a:t>
            </a:r>
          </a:p>
          <a:p>
            <a:endParaRPr lang="en-US" sz="2400" b="1" dirty="0">
              <a:latin typeface="Arial Nova" panose="020B0504020202020204" pitchFamily="34" charset="0"/>
            </a:endParaRPr>
          </a:p>
          <a:p>
            <a:r>
              <a:rPr lang="en-US" sz="2400" b="1" dirty="0">
                <a:latin typeface="Arial Nova" panose="020B0504020202020204" pitchFamily="34" charset="0"/>
              </a:rPr>
              <a:t>Why Linear Regression?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4CC45C6-4721-3A8D-D873-52CC845F1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963" y="2301923"/>
            <a:ext cx="5392276" cy="2631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Nature of the Target: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Price is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continuous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numeric value, requiring a Regression approach rather than Classification.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Efficiency: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It serves as the perfect "Baseline Model"—low computational cost with high transparency.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 descr="Linear Regression Explained with Example &amp; Application">
            <a:extLst>
              <a:ext uri="{FF2B5EF4-FFF2-40B4-BE49-F238E27FC236}">
                <a16:creationId xmlns:a16="http://schemas.microsoft.com/office/drawing/2014/main" id="{822CEEEA-A5FF-1E79-CEBD-7E4D5C758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308" y="1324423"/>
            <a:ext cx="5527729" cy="3932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737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3B073E31-FBB2-331E-65AA-0A75FB6B8180}"/>
              </a:ext>
            </a:extLst>
          </p:cNvPr>
          <p:cNvSpPr txBox="1"/>
          <p:nvPr/>
        </p:nvSpPr>
        <p:spPr>
          <a:xfrm>
            <a:off x="2435137" y="312601"/>
            <a:ext cx="80093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Understanding Evaluation Metrics</a:t>
            </a:r>
          </a:p>
        </p:txBody>
      </p:sp>
      <p:sp>
        <p:nvSpPr>
          <p:cNvPr id="36" name="Rectangle 32">
            <a:extLst>
              <a:ext uri="{FF2B5EF4-FFF2-40B4-BE49-F238E27FC236}">
                <a16:creationId xmlns:a16="http://schemas.microsoft.com/office/drawing/2014/main" id="{459E07E2-6E8D-5F9B-5B45-2F2E411FF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386" y="3393046"/>
            <a:ext cx="11639227" cy="784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ova" panose="020B0504020202020204" pitchFamily="34" charset="0"/>
            </a:endParaRPr>
          </a:p>
        </p:txBody>
      </p:sp>
      <p:pic>
        <p:nvPicPr>
          <p:cNvPr id="3106" name="Picture 34">
            <a:extLst>
              <a:ext uri="{FF2B5EF4-FFF2-40B4-BE49-F238E27FC236}">
                <a16:creationId xmlns:a16="http://schemas.microsoft.com/office/drawing/2014/main" id="{A1A8B6F8-D283-920F-E5E8-5F308BB392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238" y="34242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A83FFDB-AF17-44D6-0F8E-B0B7129DA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428" y="1195604"/>
            <a:ext cx="1146118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Since this is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 problem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we evaluate the model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regression metrics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classification metrics.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Black" panose="020B0A04020102020204" pitchFamily="34" charset="0"/>
              </a:rPr>
              <a:t>The two primary metrics used are: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R² (Coefficient of Determination)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RMSE (Root Mean Squared Error)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metrics help us understand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 magnitude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predictions.</a:t>
            </a:r>
          </a:p>
        </p:txBody>
      </p:sp>
    </p:spTree>
    <p:extLst>
      <p:ext uri="{BB962C8B-B14F-4D97-AF65-F5344CB8AC3E}">
        <p14:creationId xmlns:p14="http://schemas.microsoft.com/office/powerpoint/2010/main" val="2025344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3BE903-7CF1-E28E-CEF8-6C0C336D7550}"/>
              </a:ext>
            </a:extLst>
          </p:cNvPr>
          <p:cNvSpPr txBox="1"/>
          <p:nvPr/>
        </p:nvSpPr>
        <p:spPr>
          <a:xfrm>
            <a:off x="3048000" y="23242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Understanding R² Score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D51BC0-4FD3-66F0-F2AF-783E0B26F6A1}"/>
              </a:ext>
            </a:extLst>
          </p:cNvPr>
          <p:cNvSpPr txBox="1"/>
          <p:nvPr/>
        </p:nvSpPr>
        <p:spPr>
          <a:xfrm>
            <a:off x="770021" y="1026696"/>
            <a:ext cx="924025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R²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measures how well the model explains the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variance in the target variable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R²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ranges from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0 to 1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(or can be negative in poor models).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Interpretation: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R² = 0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→ model explains nothing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R² = 1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→ perfect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 our model: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Validation R² ≈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0.83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Test R² ≈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0.77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means the model explains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77–83% of house price variation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which is strong for Linear Regression.</a:t>
            </a:r>
          </a:p>
        </p:txBody>
      </p:sp>
    </p:spTree>
    <p:extLst>
      <p:ext uri="{BB962C8B-B14F-4D97-AF65-F5344CB8AC3E}">
        <p14:creationId xmlns:p14="http://schemas.microsoft.com/office/powerpoint/2010/main" val="1552580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E24ADF-EEAE-A4CC-4776-99A59FE7FE1A}"/>
              </a:ext>
            </a:extLst>
          </p:cNvPr>
          <p:cNvSpPr txBox="1"/>
          <p:nvPr/>
        </p:nvSpPr>
        <p:spPr>
          <a:xfrm>
            <a:off x="882315" y="280555"/>
            <a:ext cx="1042736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Understanding RMSE </a:t>
            </a:r>
            <a:r>
              <a:rPr lang="en-US" altLang="en-US" sz="3200" dirty="0">
                <a:latin typeface="Arial" panose="020B0604020202020204" pitchFamily="34" charset="0"/>
              </a:rPr>
              <a:t>(Root Mean Squared Error</a:t>
            </a:r>
            <a:r>
              <a:rPr lang="en-US" altLang="en-US" sz="3200" b="1" dirty="0">
                <a:latin typeface="Arial" panose="020B0604020202020204" pitchFamily="34" charset="0"/>
              </a:rPr>
              <a:t>)</a:t>
            </a:r>
          </a:p>
          <a:p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37428B-C12C-36EE-3393-2FDDDD0BE13B}"/>
              </a:ext>
            </a:extLst>
          </p:cNvPr>
          <p:cNvSpPr txBox="1"/>
          <p:nvPr/>
        </p:nvSpPr>
        <p:spPr>
          <a:xfrm>
            <a:off x="882315" y="1351508"/>
            <a:ext cx="737936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RMSE</a:t>
            </a:r>
            <a:r>
              <a:rPr lang="en-US" sz="2400" dirty="0"/>
              <a:t> measures the </a:t>
            </a:r>
            <a:r>
              <a:rPr lang="en-US" sz="2400" b="1" dirty="0"/>
              <a:t>average prediction error</a:t>
            </a:r>
            <a:r>
              <a:rPr lang="en-US" sz="2400" dirty="0"/>
              <a:t> in the </a:t>
            </a:r>
            <a:r>
              <a:rPr lang="en-US" sz="2400" b="1" dirty="0"/>
              <a:t>same unit as the target variable (price)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It penalizes larger errors more heavily due to squaring.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Our model results: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Validation RMSE ≈ </a:t>
            </a:r>
            <a:r>
              <a:rPr lang="en-US" sz="2400" b="1" dirty="0"/>
              <a:t>33,000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Test RMSE ≈ </a:t>
            </a:r>
            <a:r>
              <a:rPr lang="en-US" sz="2400" b="1" dirty="0"/>
              <a:t>44,000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None/>
            </a:pPr>
            <a:r>
              <a:rPr lang="en-US" sz="2400" dirty="0"/>
              <a:t>This means predictions are off by about </a:t>
            </a:r>
            <a:r>
              <a:rPr lang="en-US" sz="2400" b="1" dirty="0"/>
              <a:t>$33k–$44k on average</a:t>
            </a:r>
            <a:r>
              <a:rPr lang="en-US" sz="2400" dirty="0"/>
              <a:t>, which is acceptable for real estate pricing.</a:t>
            </a:r>
          </a:p>
        </p:txBody>
      </p:sp>
    </p:spTree>
    <p:extLst>
      <p:ext uri="{BB962C8B-B14F-4D97-AF65-F5344CB8AC3E}">
        <p14:creationId xmlns:p14="http://schemas.microsoft.com/office/powerpoint/2010/main" val="617838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684509-7420-CED6-61BE-A1DC7B2AA512}"/>
              </a:ext>
            </a:extLst>
          </p:cNvPr>
          <p:cNvSpPr txBox="1"/>
          <p:nvPr/>
        </p:nvSpPr>
        <p:spPr>
          <a:xfrm>
            <a:off x="3481137" y="26451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Generalization Check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250D3CF-EBB9-AD49-0B37-06F5D2F73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585" y="1925704"/>
            <a:ext cx="922246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Validation and test scores are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close to each other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Small performance drop from validation to test indicates: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overfitting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generalizes well to unseen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Large drops would indicate overfitting or data leakage, which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observed here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9681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4179FA-06B7-A9BA-745C-6472E3EDEB56}"/>
              </a:ext>
            </a:extLst>
          </p:cNvPr>
          <p:cNvSpPr txBox="1"/>
          <p:nvPr/>
        </p:nvSpPr>
        <p:spPr>
          <a:xfrm>
            <a:off x="3048000" y="24847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Performance Assessment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4A5CD1-76C5-0B62-F714-DA2A20BEB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3782" y="2090172"/>
            <a:ext cx="1025790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the Ames Housing dataset: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Typical Linear Regression R² ranges from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0.75 to 0.85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Our model falls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within the expected range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Higher accuracy models (Random Forest,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exist, but: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Linear Regression is chosen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simplicity, interpretability, and academic clarity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220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</TotalTime>
  <Words>478</Words>
  <Application>Microsoft Office PowerPoint</Application>
  <PresentationFormat>Widescreen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Arial Black</vt:lpstr>
      <vt:lpstr>Arial Nova</vt:lpstr>
      <vt:lpstr>Google Sans Text</vt:lpstr>
      <vt:lpstr>Office Theme</vt:lpstr>
      <vt:lpstr>House Price Predictor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Haroon Khan</dc:creator>
  <cp:lastModifiedBy>Haroon Khan</cp:lastModifiedBy>
  <cp:revision>3</cp:revision>
  <dcterms:created xsi:type="dcterms:W3CDTF">2026-02-03T03:23:43Z</dcterms:created>
  <dcterms:modified xsi:type="dcterms:W3CDTF">2026-02-03T11:16:51Z</dcterms:modified>
</cp:coreProperties>
</file>