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4977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732895" y="1746912"/>
            <a:ext cx="7678079" cy="685800"/>
          </a:xfrm>
          <a:prstGeom prst="rect">
            <a:avLst/>
          </a:prstGeom>
          <a:noFill/>
          <a:ln/>
        </p:spPr>
        <p:txBody>
          <a:bodyPr wrap="square" lIns="0" tIns="0" rIns="0" bIns="0" rtlCol="0" anchor="t"/>
          <a:lstStyle/>
          <a:p>
            <a:pPr marL="0" indent="0" algn="ctr">
              <a:lnSpc>
                <a:spcPts val="5400"/>
              </a:lnSpc>
              <a:buNone/>
            </a:pPr>
            <a:r>
              <a:rPr lang="en-US" sz="4500" b="1" dirty="0">
                <a:solidFill>
                  <a:srgbClr val="38BDF8"/>
                </a:solidFill>
                <a:latin typeface="Arial" pitchFamily="34" charset="0"/>
                <a:ea typeface="Arial" pitchFamily="34" charset="-122"/>
                <a:cs typeface="Arial" pitchFamily="34" charset="-120"/>
              </a:rPr>
              <a:t>Diabetes Prediction System</a:t>
            </a:r>
            <a:endParaRPr lang="en-US" sz="4500" dirty="0"/>
          </a:p>
        </p:txBody>
      </p:sp>
      <p:sp>
        <p:nvSpPr>
          <p:cNvPr id="3" name="Text 1"/>
          <p:cNvSpPr/>
          <p:nvPr/>
        </p:nvSpPr>
        <p:spPr>
          <a:xfrm>
            <a:off x="3224110" y="2585111"/>
            <a:ext cx="2695781" cy="320014"/>
          </a:xfrm>
          <a:prstGeom prst="rect">
            <a:avLst/>
          </a:prstGeom>
          <a:noFill/>
          <a:ln/>
        </p:spPr>
        <p:txBody>
          <a:bodyPr wrap="square" lIns="0" tIns="0" rIns="0" bIns="0" rtlCol="0" anchor="t"/>
          <a:lstStyle/>
          <a:p>
            <a:pPr marL="0" indent="0" algn="ctr">
              <a:lnSpc>
                <a:spcPts val="2520"/>
              </a:lnSpc>
              <a:buNone/>
            </a:pPr>
            <a:r>
              <a:rPr lang="en-US" sz="1800" dirty="0">
                <a:solidFill>
                  <a:srgbClr val="CBD5E1"/>
                </a:solidFill>
                <a:latin typeface="Arial" pitchFamily="34" charset="0"/>
                <a:ea typeface="Arial" pitchFamily="34" charset="-122"/>
                <a:cs typeface="Arial" pitchFamily="34" charset="-120"/>
              </a:rPr>
              <a:t>Using Logistic Regression</a:t>
            </a:r>
            <a:endParaRPr lang="en-US" sz="1800" dirty="0"/>
          </a:p>
        </p:txBody>
      </p:sp>
      <p:sp>
        <p:nvSpPr>
          <p:cNvPr id="4" name="Text 2"/>
          <p:cNvSpPr/>
          <p:nvPr/>
        </p:nvSpPr>
        <p:spPr>
          <a:xfrm>
            <a:off x="3797332" y="3057524"/>
            <a:ext cx="2422846" cy="1100314"/>
          </a:xfrm>
          <a:prstGeom prst="rect">
            <a:avLst/>
          </a:prstGeom>
          <a:noFill/>
          <a:ln/>
        </p:spPr>
        <p:txBody>
          <a:bodyPr wrap="square" lIns="0" tIns="0" rIns="0" bIns="0" rtlCol="0" anchor="t"/>
          <a:lstStyle/>
          <a:p>
            <a:pPr marL="0" indent="0" algn="ctr">
              <a:lnSpc>
                <a:spcPts val="1470"/>
              </a:lnSpc>
              <a:buNone/>
            </a:pPr>
            <a:r>
              <a:rPr lang="en-US" sz="1050" dirty="0">
                <a:solidFill>
                  <a:srgbClr val="94A3B8"/>
                </a:solidFill>
                <a:latin typeface="Arial" pitchFamily="34" charset="0"/>
                <a:ea typeface="Arial" pitchFamily="34" charset="-122"/>
                <a:cs typeface="Arial" pitchFamily="34" charset="-120"/>
              </a:rPr>
              <a:t>AI Lab No 2</a:t>
            </a:r>
          </a:p>
          <a:p>
            <a:pPr marL="0" indent="0" algn="ctr">
              <a:lnSpc>
                <a:spcPts val="1470"/>
              </a:lnSpc>
              <a:buNone/>
            </a:pPr>
            <a:r>
              <a:rPr lang="en-US" sz="1050" dirty="0">
                <a:solidFill>
                  <a:srgbClr val="94A3B8"/>
                </a:solidFill>
                <a:latin typeface="Arial" pitchFamily="34" charset="0"/>
                <a:cs typeface="Arial" pitchFamily="34" charset="-120"/>
              </a:rPr>
              <a:t>From: M Haroon Abbas (2K23/BLCS/38)</a:t>
            </a:r>
            <a:br>
              <a:rPr lang="en-US" sz="1050" dirty="0">
                <a:solidFill>
                  <a:srgbClr val="94A3B8"/>
                </a:solidFill>
                <a:latin typeface="Arial" pitchFamily="34" charset="0"/>
                <a:cs typeface="Arial" pitchFamily="34" charset="-120"/>
              </a:rPr>
            </a:br>
            <a:r>
              <a:rPr lang="en-US" sz="1050" dirty="0">
                <a:solidFill>
                  <a:srgbClr val="94A3B8"/>
                </a:solidFill>
                <a:latin typeface="Arial" pitchFamily="34" charset="0"/>
                <a:cs typeface="Arial" pitchFamily="34" charset="-120"/>
              </a:rPr>
              <a:t>Course Instructor: Dr Fozia Talpur</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27"/>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Lab Objective</a:t>
            </a:r>
            <a:endParaRPr lang="en-US" sz="2700" dirty="0"/>
          </a:p>
        </p:txBody>
      </p:sp>
      <p:sp>
        <p:nvSpPr>
          <p:cNvPr id="3" name="Text 1"/>
          <p:cNvSpPr/>
          <p:nvPr/>
        </p:nvSpPr>
        <p:spPr>
          <a:xfrm>
            <a:off x="609600" y="1249627"/>
            <a:ext cx="8083296" cy="266700"/>
          </a:xfrm>
          <a:prstGeom prst="rect">
            <a:avLst/>
          </a:prstGeom>
          <a:noFill/>
          <a:ln/>
        </p:spPr>
        <p:txBody>
          <a:bodyPr wrap="square" lIns="0" tIns="0" rIns="0" bIns="0" rtlCol="0" anchor="t"/>
          <a:lstStyle/>
          <a:p>
            <a:pPr marL="0" indent="0">
              <a:lnSpc>
                <a:spcPts val="2100"/>
              </a:lnSpc>
              <a:buNone/>
            </a:pPr>
            <a:r>
              <a:rPr lang="en-US" sz="1500" dirty="0">
                <a:solidFill>
                  <a:srgbClr val="CBD5E1"/>
                </a:solidFill>
                <a:latin typeface="Arial" pitchFamily="34" charset="0"/>
                <a:ea typeface="Arial" pitchFamily="34" charset="-122"/>
                <a:cs typeface="Arial" pitchFamily="34" charset="-120"/>
              </a:rPr>
              <a:t>Build an end-to-end diabetes prediction system from data to deployment</a:t>
            </a:r>
            <a:endParaRPr lang="en-US" sz="1500" dirty="0"/>
          </a:p>
        </p:txBody>
      </p:sp>
      <p:sp>
        <p:nvSpPr>
          <p:cNvPr id="4" name="Text 2"/>
          <p:cNvSpPr/>
          <p:nvPr/>
        </p:nvSpPr>
        <p:spPr>
          <a:xfrm>
            <a:off x="914400" y="1744927"/>
            <a:ext cx="7620000" cy="1154112"/>
          </a:xfrm>
          <a:prstGeom prst="rect">
            <a:avLst/>
          </a:prstGeom>
          <a:noFill/>
          <a:ln/>
        </p:spPr>
        <p:txBody>
          <a:bodyPr wrap="square" lIns="0" tIns="0" rIns="0" bIns="0" rtlCol="0" anchor="t"/>
          <a:lstStyle/>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Predict diabetes (0/1) from 8 clinical features</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Use Pima Indians dataset (768 patients)</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Deploy via FastAPI with web interface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377952" y="403886"/>
            <a:ext cx="8083296" cy="411427"/>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Algorithm: Logistic Regression</a:t>
            </a:r>
            <a:endParaRPr lang="en-US" sz="2700" dirty="0"/>
          </a:p>
        </p:txBody>
      </p:sp>
      <p:sp>
        <p:nvSpPr>
          <p:cNvPr id="3" name="Text 1"/>
          <p:cNvSpPr/>
          <p:nvPr/>
        </p:nvSpPr>
        <p:spPr>
          <a:xfrm>
            <a:off x="377952" y="1019562"/>
            <a:ext cx="7620000" cy="1576917"/>
          </a:xfrm>
          <a:prstGeom prst="rect">
            <a:avLst/>
          </a:prstGeom>
          <a:noFill/>
          <a:ln/>
        </p:spPr>
        <p:txBody>
          <a:bodyPr wrap="square" lIns="0" tIns="0" rIns="0" bIns="0" rtlCol="0" anchor="t"/>
          <a:lstStyle/>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Linear model for binary classification (0 or 1)</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Outputs probability using sigmoid function</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Fast, interpretable, works well for medical data</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Enables threshold tuning for Recall optimization</a:t>
            </a:r>
            <a:endParaRPr lang="en-US" sz="1350" dirty="0"/>
          </a:p>
        </p:txBody>
      </p:sp>
      <p:pic>
        <p:nvPicPr>
          <p:cNvPr id="1028" name="Picture 4" descr="Everything You Need to Know About Logistic Regression - Spiceworks">
            <a:extLst>
              <a:ext uri="{FF2B5EF4-FFF2-40B4-BE49-F238E27FC236}">
                <a16:creationId xmlns:a16="http://schemas.microsoft.com/office/drawing/2014/main" id="{19CFA109-8A26-AAC8-BA8A-904C036355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1164" y="1019561"/>
            <a:ext cx="3844884" cy="37551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3095379" y="1581415"/>
            <a:ext cx="2953242" cy="411427"/>
          </a:xfrm>
          <a:prstGeom prst="rect">
            <a:avLst/>
          </a:prstGeom>
          <a:noFill/>
          <a:ln/>
        </p:spPr>
        <p:txBody>
          <a:bodyPr wrap="square" lIns="0" tIns="0" rIns="0" bIns="0" rtlCol="0" anchor="t"/>
          <a:lstStyle/>
          <a:p>
            <a:pPr marL="0" indent="0" algn="ctr">
              <a:lnSpc>
                <a:spcPts val="3240"/>
              </a:lnSpc>
              <a:buNone/>
            </a:pPr>
            <a:r>
              <a:rPr lang="en-US" sz="2700" b="1" dirty="0">
                <a:solidFill>
                  <a:srgbClr val="38BDF8"/>
                </a:solidFill>
                <a:latin typeface="Arial" pitchFamily="34" charset="0"/>
                <a:ea typeface="Arial" pitchFamily="34" charset="-122"/>
                <a:cs typeface="Arial" pitchFamily="34" charset="-120"/>
              </a:rPr>
              <a:t>Sigmoid Function</a:t>
            </a:r>
            <a:endParaRPr lang="en-US" sz="2700" dirty="0"/>
          </a:p>
        </p:txBody>
      </p:sp>
      <p:sp>
        <p:nvSpPr>
          <p:cNvPr id="3" name="Text 1"/>
          <p:cNvSpPr/>
          <p:nvPr/>
        </p:nvSpPr>
        <p:spPr>
          <a:xfrm>
            <a:off x="2546858" y="2221442"/>
            <a:ext cx="4050284" cy="266700"/>
          </a:xfrm>
          <a:prstGeom prst="rect">
            <a:avLst/>
          </a:prstGeom>
          <a:noFill/>
          <a:ln/>
        </p:spPr>
        <p:txBody>
          <a:bodyPr wrap="square" lIns="0" tIns="0" rIns="0" bIns="0" rtlCol="0" anchor="t"/>
          <a:lstStyle/>
          <a:p>
            <a:pPr marL="0" indent="0" algn="ctr">
              <a:lnSpc>
                <a:spcPts val="2100"/>
              </a:lnSpc>
              <a:buNone/>
            </a:pPr>
            <a:r>
              <a:rPr lang="en-US" sz="1500" dirty="0">
                <a:solidFill>
                  <a:srgbClr val="CBD5E1"/>
                </a:solidFill>
                <a:latin typeface="Arial" pitchFamily="34" charset="0"/>
                <a:ea typeface="Arial" pitchFamily="34" charset="-122"/>
                <a:cs typeface="Arial" pitchFamily="34" charset="-120"/>
              </a:rPr>
              <a:t>Converts linear combination to probability [0, 1]</a:t>
            </a:r>
            <a:endParaRPr lang="en-US" sz="1500" dirty="0"/>
          </a:p>
        </p:txBody>
      </p:sp>
      <p:sp>
        <p:nvSpPr>
          <p:cNvPr id="4" name="Text 2"/>
          <p:cNvSpPr/>
          <p:nvPr/>
        </p:nvSpPr>
        <p:spPr>
          <a:xfrm>
            <a:off x="3407220" y="2640542"/>
            <a:ext cx="2329561" cy="452967"/>
          </a:xfrm>
          <a:prstGeom prst="rect">
            <a:avLst/>
          </a:prstGeom>
          <a:noFill/>
          <a:ln/>
        </p:spPr>
        <p:txBody>
          <a:bodyPr wrap="square" lIns="0" tIns="0" rIns="0" bIns="0" rtlCol="0" anchor="t"/>
          <a:lstStyle/>
          <a:p>
            <a:pPr marL="0" indent="0" algn="ctr">
              <a:lnSpc>
                <a:spcPts val="3150"/>
              </a:lnSpc>
              <a:buNone/>
            </a:pPr>
            <a:r>
              <a:rPr lang="en-US" sz="2250" b="1" dirty="0">
                <a:solidFill>
                  <a:srgbClr val="38BDF8"/>
                </a:solidFill>
                <a:latin typeface="Arial" pitchFamily="34" charset="0"/>
                <a:ea typeface="Arial" pitchFamily="34" charset="-122"/>
                <a:cs typeface="Arial" pitchFamily="34" charset="-120"/>
              </a:rPr>
              <a:t>σ(z) = 1 / (1 + e)</a:t>
            </a:r>
            <a:endParaRPr lang="en-US" sz="2250" dirty="0"/>
          </a:p>
        </p:txBody>
      </p:sp>
      <p:sp>
        <p:nvSpPr>
          <p:cNvPr id="5" name="Text 3"/>
          <p:cNvSpPr/>
          <p:nvPr/>
        </p:nvSpPr>
        <p:spPr>
          <a:xfrm>
            <a:off x="2759656" y="3322109"/>
            <a:ext cx="3624556" cy="239977"/>
          </a:xfrm>
          <a:prstGeom prst="rect">
            <a:avLst/>
          </a:prstGeom>
          <a:noFill/>
          <a:ln/>
        </p:spPr>
        <p:txBody>
          <a:bodyPr wrap="square" lIns="0" tIns="0" rIns="0" bIns="0" rtlCol="0" anchor="t"/>
          <a:lstStyle/>
          <a:p>
            <a:pPr marL="0" indent="0" algn="ctr">
              <a:lnSpc>
                <a:spcPts val="1890"/>
              </a:lnSpc>
              <a:buNone/>
            </a:pPr>
            <a:r>
              <a:rPr lang="en-US" sz="1350" dirty="0">
                <a:solidFill>
                  <a:srgbClr val="94A3B8"/>
                </a:solidFill>
                <a:latin typeface="Arial" pitchFamily="34" charset="0"/>
                <a:ea typeface="Arial" pitchFamily="34" charset="-122"/>
                <a:cs typeface="Arial" pitchFamily="34" charset="-120"/>
              </a:rPr>
              <a:t>If probability ≥ threshold → predict 1 (diabetes)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27"/>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Step 1-2: Load and Split</a:t>
            </a:r>
            <a:endParaRPr lang="en-US" sz="2700" dirty="0"/>
          </a:p>
        </p:txBody>
      </p:sp>
      <p:sp>
        <p:nvSpPr>
          <p:cNvPr id="3" name="Text 1"/>
          <p:cNvSpPr/>
          <p:nvPr/>
        </p:nvSpPr>
        <p:spPr>
          <a:xfrm>
            <a:off x="914400" y="1249628"/>
            <a:ext cx="7620000" cy="1576917"/>
          </a:xfrm>
          <a:prstGeom prst="rect">
            <a:avLst/>
          </a:prstGeom>
          <a:noFill/>
          <a:ln/>
        </p:spPr>
        <p:txBody>
          <a:bodyPr wrap="square" lIns="0" tIns="0" rIns="0" bIns="0" rtlCol="0" anchor="t"/>
          <a:lstStyle/>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Load diabetes.csv (768 rows, 8 features + target)</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Check for zeros (represent missing values)</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Split: Train 70%, Validation 15%, Test 15%</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Stratify to preserve class balance (65% vs 35%)</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27"/>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Step 3-4: Preprocess and Train</a:t>
            </a:r>
            <a:endParaRPr lang="en-US" sz="2700" dirty="0"/>
          </a:p>
        </p:txBody>
      </p:sp>
      <p:sp>
        <p:nvSpPr>
          <p:cNvPr id="3" name="Text 1"/>
          <p:cNvSpPr/>
          <p:nvPr/>
        </p:nvSpPr>
        <p:spPr>
          <a:xfrm>
            <a:off x="914400" y="1249628"/>
            <a:ext cx="7620000" cy="1576917"/>
          </a:xfrm>
          <a:prstGeom prst="rect">
            <a:avLst/>
          </a:prstGeom>
          <a:noFill/>
          <a:ln/>
        </p:spPr>
        <p:txBody>
          <a:bodyPr wrap="square" lIns="0" tIns="0" rIns="0" bIns="0" rtlCol="0" anchor="t"/>
          <a:lstStyle/>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Replace zeros with NaN in clinical features</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Median imputation + StandardScaler (Pipeline)</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Train Logistic Regression with GridSearchCV</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Tune regularization parameter C using 5-fold CV</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27"/>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Step 5-6: Tune Threshold and Save</a:t>
            </a:r>
            <a:endParaRPr lang="en-US" sz="2700" dirty="0"/>
          </a:p>
        </p:txBody>
      </p:sp>
      <p:sp>
        <p:nvSpPr>
          <p:cNvPr id="3" name="Text 1"/>
          <p:cNvSpPr/>
          <p:nvPr/>
        </p:nvSpPr>
        <p:spPr>
          <a:xfrm>
            <a:off x="914400" y="1249628"/>
            <a:ext cx="7620000" cy="1154112"/>
          </a:xfrm>
          <a:prstGeom prst="rect">
            <a:avLst/>
          </a:prstGeom>
          <a:noFill/>
          <a:ln/>
        </p:spPr>
        <p:txBody>
          <a:bodyPr wrap="square" lIns="0" tIns="0" rIns="0" bIns="0" rtlCol="0" anchor="t"/>
          <a:lstStyle/>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Use validation set to find optimal threshold</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Lower threshold → Higher Recall (catch more cases)</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Save model, threshold, feature names as .pkl</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27"/>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Model Performance</a:t>
            </a:r>
            <a:endParaRPr lang="en-US" sz="2700" dirty="0"/>
          </a:p>
        </p:txBody>
      </p:sp>
      <p:sp>
        <p:nvSpPr>
          <p:cNvPr id="3" name="Text 1"/>
          <p:cNvSpPr/>
          <p:nvPr/>
        </p:nvSpPr>
        <p:spPr>
          <a:xfrm>
            <a:off x="609600" y="1009651"/>
            <a:ext cx="8083296" cy="239977"/>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Test set results with tuned threshold:</a:t>
            </a:r>
            <a:endParaRPr lang="en-US" sz="1350" dirty="0"/>
          </a:p>
        </p:txBody>
      </p:sp>
      <p:sp>
        <p:nvSpPr>
          <p:cNvPr id="4" name="Text 2"/>
          <p:cNvSpPr/>
          <p:nvPr/>
        </p:nvSpPr>
        <p:spPr>
          <a:xfrm>
            <a:off x="914400" y="1306725"/>
            <a:ext cx="7381568" cy="3420020"/>
          </a:xfrm>
          <a:prstGeom prst="rect">
            <a:avLst/>
          </a:prstGeom>
          <a:noFill/>
          <a:ln/>
        </p:spPr>
        <p:txBody>
          <a:bodyPr wrap="square" lIns="0" tIns="0" rIns="0" bIns="0" rtlCol="0" anchor="t"/>
          <a:lstStyle/>
          <a:p>
            <a:r>
              <a:rPr lang="en-US" sz="1350" dirty="0">
                <a:solidFill>
                  <a:srgbClr val="CBD5E1"/>
                </a:solidFill>
                <a:latin typeface="Arial" pitchFamily="34" charset="0"/>
                <a:cs typeface="Arial" pitchFamily="34" charset="-120"/>
              </a:rPr>
              <a:t>Model: Logistic Regression</a:t>
            </a:r>
            <a:br>
              <a:rPr lang="en-US" sz="1350" dirty="0">
                <a:solidFill>
                  <a:srgbClr val="CBD5E1"/>
                </a:solidFill>
                <a:latin typeface="Arial" pitchFamily="34" charset="0"/>
                <a:cs typeface="Arial" pitchFamily="34" charset="-120"/>
              </a:rPr>
            </a:br>
            <a:r>
              <a:rPr lang="en-US" sz="1350" dirty="0">
                <a:solidFill>
                  <a:srgbClr val="CBD5E1"/>
                </a:solidFill>
                <a:latin typeface="Arial" pitchFamily="34" charset="0"/>
                <a:cs typeface="Arial" pitchFamily="34" charset="-120"/>
              </a:rPr>
              <a:t>Tuning: </a:t>
            </a:r>
            <a:r>
              <a:rPr lang="en-US" sz="1350" dirty="0" err="1">
                <a:solidFill>
                  <a:srgbClr val="CBD5E1"/>
                </a:solidFill>
                <a:latin typeface="Arial" pitchFamily="34" charset="0"/>
                <a:cs typeface="Arial" pitchFamily="34" charset="-120"/>
              </a:rPr>
              <a:t>GridSearchCV</a:t>
            </a:r>
            <a:r>
              <a:rPr lang="en-US" sz="1350" dirty="0">
                <a:solidFill>
                  <a:srgbClr val="CBD5E1"/>
                </a:solidFill>
                <a:latin typeface="Arial" pitchFamily="34" charset="0"/>
                <a:cs typeface="Arial" pitchFamily="34" charset="-120"/>
              </a:rPr>
              <a:t> (C parameter)</a:t>
            </a:r>
          </a:p>
          <a:p>
            <a:r>
              <a:rPr lang="en-US" sz="1350" dirty="0">
                <a:solidFill>
                  <a:srgbClr val="CBD5E1"/>
                </a:solidFill>
                <a:latin typeface="Arial" pitchFamily="34" charset="0"/>
                <a:cs typeface="Arial" pitchFamily="34" charset="-120"/>
              </a:rPr>
              <a:t>Default Threshold: 0.50</a:t>
            </a:r>
            <a:br>
              <a:rPr lang="en-US" sz="1350" dirty="0">
                <a:solidFill>
                  <a:srgbClr val="CBD5E1"/>
                </a:solidFill>
                <a:latin typeface="Arial" pitchFamily="34" charset="0"/>
                <a:cs typeface="Arial" pitchFamily="34" charset="-120"/>
              </a:rPr>
            </a:br>
            <a:r>
              <a:rPr lang="en-US" sz="1350" dirty="0">
                <a:solidFill>
                  <a:srgbClr val="CBD5E1"/>
                </a:solidFill>
                <a:latin typeface="Arial" pitchFamily="34" charset="0"/>
                <a:cs typeface="Arial" pitchFamily="34" charset="-120"/>
              </a:rPr>
              <a:t>Best Threshold: 0.25 (F1 optimized)</a:t>
            </a:r>
          </a:p>
          <a:p>
            <a:r>
              <a:rPr lang="en-US" sz="1350" dirty="0">
                <a:solidFill>
                  <a:srgbClr val="CBD5E1"/>
                </a:solidFill>
                <a:latin typeface="Arial" pitchFamily="34" charset="0"/>
                <a:cs typeface="Arial" pitchFamily="34" charset="-120"/>
              </a:rPr>
              <a:t>Final Performance:</a:t>
            </a:r>
          </a:p>
          <a:p>
            <a:endParaRPr lang="en-US" sz="1350" dirty="0">
              <a:solidFill>
                <a:srgbClr val="CBD5E1"/>
              </a:solidFill>
              <a:latin typeface="Arial" pitchFamily="34" charset="0"/>
              <a:cs typeface="Arial" pitchFamily="34" charset="-120"/>
            </a:endParaRPr>
          </a:p>
          <a:p>
            <a:r>
              <a:rPr lang="en-US" sz="1350" dirty="0">
                <a:solidFill>
                  <a:srgbClr val="CBD5E1"/>
                </a:solidFill>
                <a:latin typeface="Arial" pitchFamily="34" charset="0"/>
                <a:cs typeface="Arial" pitchFamily="34" charset="-120"/>
              </a:rPr>
              <a:t>Accuracy: 76.7%</a:t>
            </a:r>
          </a:p>
          <a:p>
            <a:r>
              <a:rPr lang="en-US" sz="1350" dirty="0">
                <a:solidFill>
                  <a:srgbClr val="CBD5E1"/>
                </a:solidFill>
                <a:latin typeface="Arial" pitchFamily="34" charset="0"/>
                <a:cs typeface="Arial" pitchFamily="34" charset="-120"/>
              </a:rPr>
              <a:t>Precision: 62.5%</a:t>
            </a:r>
          </a:p>
          <a:p>
            <a:r>
              <a:rPr lang="en-US" sz="1350" dirty="0">
                <a:solidFill>
                  <a:srgbClr val="CBD5E1"/>
                </a:solidFill>
                <a:latin typeface="Arial" pitchFamily="34" charset="0"/>
                <a:cs typeface="Arial" pitchFamily="34" charset="-120"/>
              </a:rPr>
              <a:t>Recall: 85.4%</a:t>
            </a:r>
          </a:p>
          <a:p>
            <a:r>
              <a:rPr lang="en-US" sz="1350" dirty="0">
                <a:solidFill>
                  <a:srgbClr val="CBD5E1"/>
                </a:solidFill>
                <a:latin typeface="Arial" pitchFamily="34" charset="0"/>
                <a:cs typeface="Arial" pitchFamily="34" charset="-120"/>
              </a:rPr>
              <a:t>F1 Score: 0.72</a:t>
            </a:r>
          </a:p>
          <a:p>
            <a:endParaRPr lang="en-US" sz="1350" dirty="0">
              <a:solidFill>
                <a:srgbClr val="CBD5E1"/>
              </a:solidFill>
              <a:latin typeface="Arial" pitchFamily="34" charset="0"/>
              <a:cs typeface="Arial" pitchFamily="34" charset="-120"/>
            </a:endParaRPr>
          </a:p>
          <a:p>
            <a:r>
              <a:rPr lang="en-US" sz="1350" dirty="0">
                <a:solidFill>
                  <a:srgbClr val="CBD5E1"/>
                </a:solidFill>
                <a:latin typeface="Arial" pitchFamily="34" charset="0"/>
                <a:cs typeface="Arial" pitchFamily="34" charset="-120"/>
              </a:rPr>
              <a:t>Insight</a:t>
            </a:r>
          </a:p>
          <a:p>
            <a:r>
              <a:rPr lang="en-US" sz="1350" dirty="0">
                <a:solidFill>
                  <a:srgbClr val="CBD5E1"/>
                </a:solidFill>
                <a:latin typeface="Arial" pitchFamily="34" charset="0"/>
                <a:cs typeface="Arial" pitchFamily="34" charset="-120"/>
              </a:rPr>
              <a:t>Threshold tuning significantly improved diabetic detection while maintaining acceptable precision.</a:t>
            </a:r>
          </a:p>
          <a:p>
            <a:endParaRPr lang="en-US" sz="1350" dirty="0">
              <a:solidFill>
                <a:srgbClr val="CBD5E1"/>
              </a:solidFill>
              <a:latin typeface="Arial" pitchFamily="34" charset="0"/>
              <a:cs typeface="Arial" pitchFamily="34" charset="-120"/>
            </a:endParaRPr>
          </a:p>
          <a:p>
            <a:r>
              <a:rPr lang="en-US" sz="1350" dirty="0">
                <a:solidFill>
                  <a:srgbClr val="CBD5E1"/>
                </a:solidFill>
                <a:latin typeface="Arial" pitchFamily="34" charset="0"/>
                <a:cs typeface="Arial" pitchFamily="34" charset="-120"/>
              </a:rPr>
              <a:t>Lower precision is acceptable because in medical screening (like diabetes), it’s more important to catch as many true patients as possible (high recall), even if it means some healthy people are falsely flagged.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27"/>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Why This Is Good</a:t>
            </a:r>
            <a:endParaRPr lang="en-US" sz="2700" dirty="0"/>
          </a:p>
        </p:txBody>
      </p:sp>
      <p:sp>
        <p:nvSpPr>
          <p:cNvPr id="3" name="Text 1"/>
          <p:cNvSpPr/>
          <p:nvPr/>
        </p:nvSpPr>
        <p:spPr>
          <a:xfrm>
            <a:off x="914400" y="1249626"/>
            <a:ext cx="7620000" cy="1576917"/>
          </a:xfrm>
          <a:prstGeom prst="rect">
            <a:avLst/>
          </a:prstGeom>
          <a:noFill/>
          <a:ln/>
        </p:spPr>
        <p:txBody>
          <a:bodyPr wrap="square" lIns="0" tIns="0" rIns="0" bIns="0" rtlCol="0" anchor="t"/>
          <a:lstStyle/>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High Recall means fewer missed diabetic patients</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AUC above 0.80 shows strong predictive power</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Simple model = fast inference and interpretability</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Threshold tuning aligns with medical priorities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3323965" y="2049726"/>
            <a:ext cx="2495939" cy="548614"/>
          </a:xfrm>
          <a:prstGeom prst="rect">
            <a:avLst/>
          </a:prstGeom>
          <a:noFill/>
          <a:ln/>
        </p:spPr>
        <p:txBody>
          <a:bodyPr wrap="square" lIns="0" tIns="0" rIns="0" bIns="0" rtlCol="0" anchor="t"/>
          <a:lstStyle/>
          <a:p>
            <a:pPr marL="0" indent="0" algn="ctr">
              <a:lnSpc>
                <a:spcPts val="4320"/>
              </a:lnSpc>
              <a:buNone/>
            </a:pPr>
            <a:r>
              <a:rPr lang="en-US" sz="3600" b="1" dirty="0">
                <a:solidFill>
                  <a:srgbClr val="38BDF8"/>
                </a:solidFill>
                <a:latin typeface="Arial" pitchFamily="34" charset="0"/>
                <a:ea typeface="Arial" pitchFamily="34" charset="-122"/>
                <a:cs typeface="Arial" pitchFamily="34" charset="-120"/>
              </a:rPr>
              <a:t>Thank You!</a:t>
            </a:r>
            <a:endParaRPr lang="en-US" sz="3600" dirty="0"/>
          </a:p>
        </p:txBody>
      </p:sp>
      <p:sp>
        <p:nvSpPr>
          <p:cNvPr id="3" name="Text 1"/>
          <p:cNvSpPr/>
          <p:nvPr/>
        </p:nvSpPr>
        <p:spPr>
          <a:xfrm>
            <a:off x="4080424" y="2826939"/>
            <a:ext cx="983020" cy="266700"/>
          </a:xfrm>
          <a:prstGeom prst="rect">
            <a:avLst/>
          </a:prstGeom>
          <a:noFill/>
          <a:ln/>
        </p:spPr>
        <p:txBody>
          <a:bodyPr wrap="square" lIns="0" tIns="0" rIns="0" bIns="0" rtlCol="0" anchor="t"/>
          <a:lstStyle/>
          <a:p>
            <a:pPr marL="0" indent="0" algn="ctr">
              <a:lnSpc>
                <a:spcPts val="2100"/>
              </a:lnSpc>
              <a:buNone/>
            </a:pPr>
            <a:r>
              <a:rPr lang="en-US" sz="1500" dirty="0">
                <a:solidFill>
                  <a:srgbClr val="CBD5E1"/>
                </a:solidFill>
                <a:latin typeface="Arial" pitchFamily="34" charset="0"/>
                <a:ea typeface="Arial" pitchFamily="34" charset="-122"/>
                <a:cs typeface="Arial" pitchFamily="34" charset="-120"/>
              </a:rPr>
              <a:t>Questions?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396</Words>
  <Application>Microsoft Office PowerPoint</Application>
  <PresentationFormat>On-screen Show (16:9)</PresentationFormat>
  <Paragraphs>64</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Perplexity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Haroon Khan</cp:lastModifiedBy>
  <cp:revision>4</cp:revision>
  <dcterms:created xsi:type="dcterms:W3CDTF">2026-02-03T10:52:24Z</dcterms:created>
  <dcterms:modified xsi:type="dcterms:W3CDTF">2026-02-08T08:08:12Z</dcterms:modified>
</cp:coreProperties>
</file>